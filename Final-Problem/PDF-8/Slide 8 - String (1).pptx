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embeddedFontLst>
    <p:embeddedFont>
      <p:font typeface="Playfair Display" panose="020B0604020202020204" charset="0"/>
      <p:regular r:id="rId27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entury Gothic" panose="020B0502020202020204" pitchFamily="34" charset="0"/>
      <p:regular r:id="rId35"/>
      <p:bold r:id="rId36"/>
      <p:italic r:id="rId37"/>
      <p:boldItalic r:id="rId38"/>
    </p:embeddedFont>
    <p:embeddedFont>
      <p:font typeface="Lato" panose="020B0604020202020204" charset="0"/>
      <p:regular r:id="rId39"/>
      <p:bold r:id="rId40"/>
      <p:italic r:id="rId41"/>
      <p:boldItalic r:id="rId42"/>
    </p:embeddedFont>
    <p:embeddedFont>
      <p:font typeface="Corbel" panose="020B0503020204020204" pitchFamily="34" charset="0"/>
      <p:regular r:id="rId43"/>
      <p:bold r:id="rId44"/>
      <p:italic r:id="rId45"/>
      <p:boldItalic r:id="rId46"/>
    </p:embeddedFont>
    <p:embeddedFont>
      <p:font typeface="Amatic SC" panose="020B0604020202020204" charset="-79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jdJ6mP3rruX0RKTWdre019y8Et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font" Target="fonts/font2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font" Target="fonts/font22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font" Target="fonts/font20.fntdata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27738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7471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7978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8374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9921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5882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128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9649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4081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0706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3459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129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2905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45752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6284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24609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59594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62727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5853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88642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40265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0245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57476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18513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342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4f45a5d9b1_0_1237"/>
          <p:cNvSpPr/>
          <p:nvPr/>
        </p:nvSpPr>
        <p:spPr>
          <a:xfrm>
            <a:off x="782294" y="0"/>
            <a:ext cx="106275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g34f45a5d9b1_0_1237"/>
          <p:cNvSpPr/>
          <p:nvPr/>
        </p:nvSpPr>
        <p:spPr>
          <a:xfrm>
            <a:off x="782294" y="6769200"/>
            <a:ext cx="106275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" name="Google Shape;16;g34f45a5d9b1_0_1237"/>
          <p:cNvCxnSpPr/>
          <p:nvPr/>
        </p:nvCxnSpPr>
        <p:spPr>
          <a:xfrm>
            <a:off x="977625" y="2980467"/>
            <a:ext cx="513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g34f45a5d9b1_0_1237"/>
          <p:cNvSpPr txBox="1">
            <a:spLocks noGrp="1"/>
          </p:cNvSpPr>
          <p:nvPr>
            <p:ph type="ctrTitle"/>
          </p:nvPr>
        </p:nvSpPr>
        <p:spPr>
          <a:xfrm>
            <a:off x="840800" y="182400"/>
            <a:ext cx="10524000" cy="2471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130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8" name="Google Shape;18;g34f45a5d9b1_0_1237"/>
          <p:cNvSpPr txBox="1">
            <a:spLocks noGrp="1"/>
          </p:cNvSpPr>
          <p:nvPr>
            <p:ph type="subTitle" idx="1"/>
          </p:nvPr>
        </p:nvSpPr>
        <p:spPr>
          <a:xfrm>
            <a:off x="840800" y="4304500"/>
            <a:ext cx="10524000" cy="1698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g34f45a5d9b1_0_123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4f45a5d9b1_0_1244"/>
          <p:cNvSpPr/>
          <p:nvPr/>
        </p:nvSpPr>
        <p:spPr>
          <a:xfrm>
            <a:off x="782294" y="6769200"/>
            <a:ext cx="106275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g34f45a5d9b1_0_1244"/>
          <p:cNvSpPr/>
          <p:nvPr/>
        </p:nvSpPr>
        <p:spPr>
          <a:xfrm>
            <a:off x="782294" y="0"/>
            <a:ext cx="106275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g34f45a5d9b1_0_1244"/>
          <p:cNvSpPr txBox="1">
            <a:spLocks noGrp="1"/>
          </p:cNvSpPr>
          <p:nvPr>
            <p:ph type="title"/>
          </p:nvPr>
        </p:nvSpPr>
        <p:spPr>
          <a:xfrm>
            <a:off x="679400" y="2561800"/>
            <a:ext cx="10833300" cy="173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4" name="Google Shape;24;g34f45a5d9b1_0_124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4f45a5d9b1_0_1249"/>
          <p:cNvSpPr/>
          <p:nvPr/>
        </p:nvSpPr>
        <p:spPr>
          <a:xfrm>
            <a:off x="-167" y="6727600"/>
            <a:ext cx="12192000" cy="130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" name="Google Shape;27;g34f45a5d9b1_0_1249"/>
          <p:cNvCxnSpPr/>
          <p:nvPr/>
        </p:nvCxnSpPr>
        <p:spPr>
          <a:xfrm>
            <a:off x="559233" y="1538926"/>
            <a:ext cx="513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g34f45a5d9b1_0_1249"/>
          <p:cNvSpPr txBox="1">
            <a:spLocks noGrp="1"/>
          </p:cNvSpPr>
          <p:nvPr>
            <p:ph type="title"/>
          </p:nvPr>
        </p:nvSpPr>
        <p:spPr>
          <a:xfrm>
            <a:off x="415600" y="496967"/>
            <a:ext cx="11360700" cy="86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34f45a5d9b1_0_1249"/>
          <p:cNvSpPr txBox="1">
            <a:spLocks noGrp="1"/>
          </p:cNvSpPr>
          <p:nvPr>
            <p:ph type="body" idx="1"/>
          </p:nvPr>
        </p:nvSpPr>
        <p:spPr>
          <a:xfrm>
            <a:off x="415600" y="1890400"/>
            <a:ext cx="11360700" cy="420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g34f45a5d9b1_0_124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g34f45a5d9b1_0_1255"/>
          <p:cNvCxnSpPr/>
          <p:nvPr/>
        </p:nvCxnSpPr>
        <p:spPr>
          <a:xfrm>
            <a:off x="559233" y="1538926"/>
            <a:ext cx="513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g34f45a5d9b1_0_1255"/>
          <p:cNvSpPr txBox="1">
            <a:spLocks noGrp="1"/>
          </p:cNvSpPr>
          <p:nvPr>
            <p:ph type="title"/>
          </p:nvPr>
        </p:nvSpPr>
        <p:spPr>
          <a:xfrm>
            <a:off x="415600" y="496967"/>
            <a:ext cx="11360700" cy="86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g34f45a5d9b1_0_1255"/>
          <p:cNvSpPr txBox="1">
            <a:spLocks noGrp="1"/>
          </p:cNvSpPr>
          <p:nvPr>
            <p:ph type="body" idx="1"/>
          </p:nvPr>
        </p:nvSpPr>
        <p:spPr>
          <a:xfrm>
            <a:off x="415600" y="1890600"/>
            <a:ext cx="5333100" cy="420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g34f45a5d9b1_0_1255"/>
          <p:cNvSpPr txBox="1">
            <a:spLocks noGrp="1"/>
          </p:cNvSpPr>
          <p:nvPr>
            <p:ph type="body" idx="2"/>
          </p:nvPr>
        </p:nvSpPr>
        <p:spPr>
          <a:xfrm>
            <a:off x="6443200" y="1890600"/>
            <a:ext cx="5333100" cy="420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g34f45a5d9b1_0_125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4f45a5d9b1_0_1261"/>
          <p:cNvSpPr txBox="1">
            <a:spLocks noGrp="1"/>
          </p:cNvSpPr>
          <p:nvPr>
            <p:ph type="title"/>
          </p:nvPr>
        </p:nvSpPr>
        <p:spPr>
          <a:xfrm>
            <a:off x="415600" y="496967"/>
            <a:ext cx="11360700" cy="86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34f45a5d9b1_0_126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41;g34f45a5d9b1_0_1264"/>
          <p:cNvCxnSpPr/>
          <p:nvPr/>
        </p:nvCxnSpPr>
        <p:spPr>
          <a:xfrm>
            <a:off x="548058" y="1890363"/>
            <a:ext cx="513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g34f45a5d9b1_0_1264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3" name="Google Shape;43;g34f45a5d9b1_0_1264"/>
          <p:cNvSpPr txBox="1">
            <a:spLocks noGrp="1"/>
          </p:cNvSpPr>
          <p:nvPr>
            <p:ph type="body" idx="1"/>
          </p:nvPr>
        </p:nvSpPr>
        <p:spPr>
          <a:xfrm>
            <a:off x="415600" y="2187133"/>
            <a:ext cx="3744000" cy="390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4" name="Google Shape;44;g34f45a5d9b1_0_126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4f45a5d9b1_0_1269"/>
          <p:cNvSpPr/>
          <p:nvPr/>
        </p:nvSpPr>
        <p:spPr>
          <a:xfrm>
            <a:off x="782294" y="0"/>
            <a:ext cx="106275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g34f45a5d9b1_0_1269"/>
          <p:cNvSpPr/>
          <p:nvPr/>
        </p:nvSpPr>
        <p:spPr>
          <a:xfrm>
            <a:off x="782294" y="6769200"/>
            <a:ext cx="106275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g34f45a5d9b1_0_1269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9" name="Google Shape;49;g34f45a5d9b1_0_126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f45a5d9b1_0_1274"/>
          <p:cNvSpPr/>
          <p:nvPr/>
        </p:nvSpPr>
        <p:spPr>
          <a:xfrm>
            <a:off x="6096000" y="-1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2" name="Google Shape;52;g34f45a5d9b1_0_1274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g34f45a5d9b1_0_1274"/>
          <p:cNvSpPr txBox="1">
            <a:spLocks noGrp="1"/>
          </p:cNvSpPr>
          <p:nvPr>
            <p:ph type="title"/>
          </p:nvPr>
        </p:nvSpPr>
        <p:spPr>
          <a:xfrm>
            <a:off x="354000" y="1446167"/>
            <a:ext cx="5393700" cy="2276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54" name="Google Shape;54;g34f45a5d9b1_0_1274"/>
          <p:cNvSpPr txBox="1">
            <a:spLocks noGrp="1"/>
          </p:cNvSpPr>
          <p:nvPr>
            <p:ph type="subTitle" idx="1"/>
          </p:nvPr>
        </p:nvSpPr>
        <p:spPr>
          <a:xfrm>
            <a:off x="354000" y="3793600"/>
            <a:ext cx="5393700" cy="18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g34f45a5d9b1_0_1274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g34f45a5d9b1_0_127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f45a5d9b1_0_1281"/>
          <p:cNvSpPr txBox="1">
            <a:spLocks noGrp="1"/>
          </p:cNvSpPr>
          <p:nvPr>
            <p:ph type="body" idx="1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g34f45a5d9b1_0_128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4f45a5d9b1_0_1284"/>
          <p:cNvSpPr/>
          <p:nvPr/>
        </p:nvSpPr>
        <p:spPr>
          <a:xfrm>
            <a:off x="782294" y="0"/>
            <a:ext cx="106275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34f45a5d9b1_0_1284"/>
          <p:cNvSpPr/>
          <p:nvPr/>
        </p:nvSpPr>
        <p:spPr>
          <a:xfrm>
            <a:off x="782294" y="6769200"/>
            <a:ext cx="106275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4f45a5d9b1_0_1284"/>
          <p:cNvSpPr txBox="1">
            <a:spLocks noGrp="1"/>
          </p:cNvSpPr>
          <p:nvPr>
            <p:ph type="title" hasCustomPrompt="1"/>
          </p:nvPr>
        </p:nvSpPr>
        <p:spPr>
          <a:xfrm>
            <a:off x="782300" y="1805050"/>
            <a:ext cx="10627500" cy="2051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g34f45a5d9b1_0_1284"/>
          <p:cNvSpPr txBox="1">
            <a:spLocks noGrp="1"/>
          </p:cNvSpPr>
          <p:nvPr>
            <p:ph type="body" idx="1"/>
          </p:nvPr>
        </p:nvSpPr>
        <p:spPr>
          <a:xfrm>
            <a:off x="782300" y="3957850"/>
            <a:ext cx="10627500" cy="142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g34f45a5d9b1_0_128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f45a5d9b1_0_129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f45a5d9b1_0_129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g34f45a5d9b1_0_1292"/>
          <p:cNvSpPr txBox="1">
            <a:spLocks noGrp="1"/>
          </p:cNvSpPr>
          <p:nvPr>
            <p:ph type="body" idx="1"/>
          </p:nvPr>
        </p:nvSpPr>
        <p:spPr>
          <a:xfrm>
            <a:off x="913774" y="2367092"/>
            <a:ext cx="10363800" cy="3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EDEDED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EDEDED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EDEDED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EDEDED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g34f45a5d9b1_0_129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34f45a5d9b1_0_129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g34f45a5d9b1_0_129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ue-gold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4f45a5d9b1_0_1233"/>
          <p:cNvSpPr txBox="1">
            <a:spLocks noGrp="1"/>
          </p:cNvSpPr>
          <p:nvPr>
            <p:ph type="title"/>
          </p:nvPr>
        </p:nvSpPr>
        <p:spPr>
          <a:xfrm>
            <a:off x="415600" y="496967"/>
            <a:ext cx="11360700" cy="8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1" name="Google Shape;11;g34f45a5d9b1_0_1233"/>
          <p:cNvSpPr txBox="1">
            <a:spLocks noGrp="1"/>
          </p:cNvSpPr>
          <p:nvPr>
            <p:ph type="body" idx="1"/>
          </p:nvPr>
        </p:nvSpPr>
        <p:spPr>
          <a:xfrm>
            <a:off x="415600" y="1890400"/>
            <a:ext cx="11360700" cy="42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○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■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●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○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■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●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○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■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2" name="Google Shape;12;g34f45a5d9b1_0_123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656625" y="1513875"/>
            <a:ext cx="6511500" cy="60180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262626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String</a:t>
            </a:r>
            <a:endParaRPr sz="9600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Strings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5" name="Google Shape;85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2</a:t>
            </a:fld>
            <a:endParaRPr sz="1600"/>
          </a:p>
        </p:txBody>
      </p:sp>
      <p:sp>
        <p:nvSpPr>
          <p:cNvPr id="86" name="Google Shape;86;p2"/>
          <p:cNvSpPr txBox="1"/>
          <p:nvPr/>
        </p:nvSpPr>
        <p:spPr>
          <a:xfrm>
            <a:off x="1322615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1483513" y="1350638"/>
            <a:ext cx="94191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String in C programming is a sequence of characters terminated with a null character ‘\0’.</a:t>
            </a:r>
            <a:endParaRPr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String is stored as an array of characters.</a:t>
            </a:r>
            <a:endParaRPr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string must be terminated by a null – means that we need one byte extra for holding null character which is added by the compiler automatically.</a:t>
            </a:r>
            <a:endParaRPr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character takes one byte in string.</a:t>
            </a:r>
            <a:endParaRPr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difference between a character array and a C string is that the string in C is terminated with a unique character ‘\0’.</a:t>
            </a:r>
            <a:endParaRPr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Strings Declaration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" name="Google Shape;9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1322615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1483512" y="1350638"/>
            <a:ext cx="97203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Declaring a string in C is as simple as declaring a one-dimensional array. Below is the basic syntax for declaring a string.</a:t>
            </a:r>
            <a:endParaRPr dirty="0"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of a string –</a:t>
            </a:r>
            <a:endParaRPr dirty="0"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char c[] = "c string";</a:t>
            </a:r>
            <a:endParaRPr dirty="0"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Storage in memory		</a:t>
            </a:r>
            <a:endParaRPr dirty="0"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char s[5];</a:t>
            </a:r>
            <a:endParaRPr dirty="0"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358457" y="2326261"/>
            <a:ext cx="3737543" cy="55721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string_name[size];</a:t>
            </a:r>
            <a:endParaRPr/>
          </a:p>
        </p:txBody>
      </p:sp>
      <p:pic>
        <p:nvPicPr>
          <p:cNvPr id="97" name="Google Shape;9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2448" y="3968750"/>
            <a:ext cx="5362414" cy="76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1538" y="5465001"/>
            <a:ext cx="3664225" cy="996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Strings Initialization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1322615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1483512" y="1350638"/>
            <a:ext cx="97203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can initialize a C string in 4 different ways which are as follows:</a:t>
            </a:r>
            <a:endParaRPr dirty="0"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rbel"/>
              <a:buAutoNum type="arabicPeriod"/>
            </a:pPr>
            <a:r>
              <a:rPr lang="en-US" sz="2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Assigning a String Literal without Size: </a:t>
            </a:r>
            <a:endParaRPr dirty="0">
              <a:solidFill>
                <a:schemeClr val="dk2"/>
              </a:solidFill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rbel"/>
              <a:buAutoNum type="arabicPeriod"/>
            </a:pPr>
            <a:r>
              <a:rPr lang="en-US" sz="2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Assigning a String Literal with a Predefined Size: 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that case, we should always account for one extra space which will be assigned to the null character.</a:t>
            </a:r>
            <a:endParaRPr dirty="0">
              <a:solidFill>
                <a:schemeClr val="dk2"/>
              </a:solidFill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253607" y="2604866"/>
            <a:ext cx="3737543" cy="55721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 c[] = "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abcd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";</a:t>
            </a:r>
            <a:endParaRPr dirty="0"/>
          </a:p>
        </p:txBody>
      </p:sp>
      <p:sp>
        <p:nvSpPr>
          <p:cNvPr id="108" name="Google Shape;108;p4"/>
          <p:cNvSpPr/>
          <p:nvPr/>
        </p:nvSpPr>
        <p:spPr>
          <a:xfrm>
            <a:off x="3800642" y="4875728"/>
            <a:ext cx="3737543" cy="55721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 c[50] = "abcd";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Strings Initialization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4" name="Google Shape;11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5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1322615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1483512" y="1359264"/>
            <a:ext cx="97203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can initialize a C string in 4 different ways which are as follows:</a:t>
            </a:r>
            <a:endParaRPr dirty="0"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AutoNum type="arabicPeriod" startAt="3"/>
            </a:pPr>
            <a:r>
              <a:rPr lang="en-US" sz="2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Assigning Character by Character with Size: 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that case, we should remember to set the end character as ‘\0’ which is a null character. </a:t>
            </a:r>
            <a:endParaRPr dirty="0">
              <a:solidFill>
                <a:schemeClr val="dk2"/>
              </a:solidFill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AutoNum type="arabicPeriod" startAt="3"/>
            </a:pPr>
            <a:r>
              <a:rPr lang="en-US" sz="2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Assigning Character by Character without Size: 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can assign character by character without size with the NULL character at the end.</a:t>
            </a:r>
            <a:endParaRPr dirty="0">
              <a:solidFill>
                <a:schemeClr val="dk2"/>
              </a:solidFill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484613" y="3229887"/>
            <a:ext cx="4533231" cy="55721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 c[] = {'a', 'b', 'c', 'd', '\0'};</a:t>
            </a:r>
            <a:endParaRPr dirty="0"/>
          </a:p>
        </p:txBody>
      </p:sp>
      <p:sp>
        <p:nvSpPr>
          <p:cNvPr id="118" name="Google Shape;118;p5"/>
          <p:cNvSpPr/>
          <p:nvPr/>
        </p:nvSpPr>
        <p:spPr>
          <a:xfrm>
            <a:off x="3561615" y="4948410"/>
            <a:ext cx="4639109" cy="55721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 c[5] = {'a', 'b', 'c', 'd', '\0'};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Strings Initialization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4" name="Google Shape;12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6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1322615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1531638" y="1822275"/>
            <a:ext cx="97203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Arrays and strings are second-class citizens in C; they do not support the assignment operator once it is declared. For example – </a:t>
            </a:r>
            <a:endParaRPr dirty="0"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can use the </a:t>
            </a:r>
            <a:r>
              <a:rPr lang="en-US" sz="24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strcpy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() function to copy the string instead.</a:t>
            </a:r>
            <a:endParaRPr dirty="0">
              <a:solidFill>
                <a:schemeClr val="dk2"/>
              </a:solidFill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2620534" y="2843351"/>
            <a:ext cx="8248851" cy="955486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 c[100];</a:t>
            </a:r>
            <a:endParaRPr dirty="0"/>
          </a:p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= "C programming";  // Error! array type is not assignable.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Read String from the user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3" name="Google Shape;13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7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1322615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1531638" y="1457323"/>
            <a:ext cx="97203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can use the scanf() function to read a string.</a:t>
            </a:r>
            <a:endParaRPr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scanf() function reads the sequence of characters until it encounters whitespace (space, newline, tab, etc.).</a:t>
            </a:r>
            <a:endParaRPr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8725" y="3330341"/>
            <a:ext cx="6266046" cy="2841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900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Read String Separated by Whitespaces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2" name="Google Shape;14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8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1322615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1531638" y="1457323"/>
            <a:ext cx="97203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can read a String Separated by Whitespaces in C by a small modification in the scan function –</a:t>
            </a:r>
            <a:endParaRPr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Another way is to use </a:t>
            </a:r>
            <a:r>
              <a:rPr lang="en-US"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gets</a:t>
            </a: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function.</a:t>
            </a:r>
            <a:endParaRPr>
              <a:solidFill>
                <a:schemeClr val="dk2"/>
              </a:solidFill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 t="20600" b="18691"/>
          <a:stretch/>
        </p:blipFill>
        <p:spPr>
          <a:xfrm>
            <a:off x="3533081" y="2403672"/>
            <a:ext cx="5717406" cy="27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gets()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1" name="Google Shape;15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9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1322615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1531638" y="1457323"/>
            <a:ext cx="97203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C’s standard library function</a:t>
            </a:r>
            <a:endParaRPr>
              <a:solidFill>
                <a:schemeClr val="dk2"/>
              </a:solidFill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Uses the stdio.h header file</a:t>
            </a:r>
            <a:endParaRPr>
              <a:solidFill>
                <a:schemeClr val="dk2"/>
              </a:solidFill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use – call it using the name of a character array without any   index.   </a:t>
            </a:r>
            <a:endParaRPr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gets() function reads character until we press ENTER</a:t>
            </a:r>
            <a:endParaRPr>
              <a:solidFill>
                <a:schemeClr val="dk2"/>
              </a:solidFill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 ENTER key (carriage return - \r) is not stored, but is replaced by a null, which terminates the string.</a:t>
            </a:r>
            <a:endParaRPr>
              <a:solidFill>
                <a:schemeClr val="dk2"/>
              </a:solidFill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296357" y="2859274"/>
            <a:ext cx="3029495" cy="955486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 str[100];</a:t>
            </a:r>
            <a:endParaRPr/>
          </a:p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gets(str);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gets()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0" name="Google Shape;1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10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1322615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8732" y="1659453"/>
            <a:ext cx="3749025" cy="4691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0"/>
          <p:cNvPicPr preferRelativeResize="0"/>
          <p:nvPr/>
        </p:nvPicPr>
        <p:blipFill rotWithShape="1">
          <a:blip r:embed="rId4">
            <a:alphaModFix/>
          </a:blip>
          <a:srcRect r="7806"/>
          <a:stretch/>
        </p:blipFill>
        <p:spPr>
          <a:xfrm>
            <a:off x="4255386" y="1659453"/>
            <a:ext cx="3791257" cy="4691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6826" y="1659453"/>
            <a:ext cx="3821868" cy="4691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Be aware!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0" name="Google Shape;17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11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1322615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1531638" y="1457323"/>
            <a:ext cx="97203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 string input function performs no bounds checking.</a:t>
            </a:r>
            <a:endParaRPr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It is possible to enter more characters than the array receiving them can hold – unwanted result!</a:t>
            </a:r>
            <a:endParaRPr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For example, if we call gets() with an array that is 20 characters long, there is no mechanism to stop us from entering more than 20 character.</a:t>
            </a:r>
            <a:endParaRPr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puts()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8" name="Google Shape;17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12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12"/>
          <p:cNvSpPr txBox="1"/>
          <p:nvPr/>
        </p:nvSpPr>
        <p:spPr>
          <a:xfrm>
            <a:off x="1322615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 txBox="1"/>
          <p:nvPr/>
        </p:nvSpPr>
        <p:spPr>
          <a:xfrm>
            <a:off x="1531638" y="1457323"/>
            <a:ext cx="97203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C’s standard library function</a:t>
            </a:r>
            <a:endParaRPr>
              <a:solidFill>
                <a:schemeClr val="dk2"/>
              </a:solidFill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Uses the stdio.h header file</a:t>
            </a:r>
            <a:endParaRPr>
              <a:solidFill>
                <a:schemeClr val="dk2"/>
              </a:solidFill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use – call it using the name of a character array without any index. </a:t>
            </a:r>
            <a:endParaRPr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1679235" y="3431169"/>
            <a:ext cx="4040148" cy="955486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[100] = “This is it”;</a:t>
            </a:r>
            <a:endParaRPr dirty="0"/>
          </a:p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puts(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dirty="0"/>
          </a:p>
        </p:txBody>
      </p:sp>
      <p:pic>
        <p:nvPicPr>
          <p:cNvPr id="182" name="Google Shape;18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91784" y="2945902"/>
            <a:ext cx="4427619" cy="3759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String Functions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8" name="Google Shape;18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13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1322615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1531638" y="1457323"/>
            <a:ext cx="97203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C language comes bundled with &lt;</a:t>
            </a:r>
            <a:r>
              <a:rPr lang="en-US" sz="24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string.h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&gt; which contains some useful string-handling functions.</a:t>
            </a:r>
            <a:endParaRPr dirty="0"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five most commonly used string library functions are – </a:t>
            </a:r>
            <a:endParaRPr dirty="0"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rbel"/>
              <a:buAutoNum type="arabicPeriod"/>
            </a:pPr>
            <a:r>
              <a:rPr lang="en-US" sz="24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strlen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() – for finding length of a string</a:t>
            </a:r>
            <a:endParaRPr dirty="0">
              <a:solidFill>
                <a:schemeClr val="dk2"/>
              </a:solidFill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rbel"/>
              <a:buAutoNum type="arabicPeriod"/>
            </a:pPr>
            <a:r>
              <a:rPr lang="en-US" sz="24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strcpy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() – for copying of one string to another</a:t>
            </a:r>
            <a:endParaRPr dirty="0">
              <a:solidFill>
                <a:schemeClr val="dk2"/>
              </a:solidFill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rbel"/>
              <a:buAutoNum type="arabicPeriod"/>
            </a:pPr>
            <a:r>
              <a:rPr lang="en-US" sz="24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strcat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() – for concatenation</a:t>
            </a:r>
            <a:endParaRPr dirty="0">
              <a:solidFill>
                <a:schemeClr val="dk2"/>
              </a:solidFill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rbel"/>
              <a:buAutoNum type="arabicPeriod"/>
            </a:pPr>
            <a:r>
              <a:rPr lang="en-US" sz="24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strcmp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() – for comparing two strings</a:t>
            </a:r>
            <a:endParaRPr dirty="0">
              <a:solidFill>
                <a:schemeClr val="dk2"/>
              </a:solidFill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rbel"/>
              <a:buAutoNum type="arabicPeriod"/>
            </a:pPr>
            <a:r>
              <a:rPr lang="en-US" sz="24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strrev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() – for reversing the strings</a:t>
            </a:r>
            <a:endParaRPr dirty="0"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orbel"/>
              <a:buNone/>
            </a:pPr>
            <a:r>
              <a:rPr lang="en-US" sz="4000" b="1">
                <a:solidFill>
                  <a:schemeClr val="dk2"/>
                </a:solidFill>
              </a:rPr>
              <a:t>strlen()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6" name="Google Shape;19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14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1332240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4"/>
          <p:cNvSpPr txBox="1"/>
          <p:nvPr/>
        </p:nvSpPr>
        <p:spPr>
          <a:xfrm>
            <a:off x="1531638" y="1457323"/>
            <a:ext cx="97203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4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strlen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() function in C calculates the length of a given string. It doesn’t count the null character ‘\0’.</a:t>
            </a:r>
            <a:endParaRPr dirty="0"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24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strlen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() function is defined in </a:t>
            </a:r>
            <a:r>
              <a:rPr lang="en-US" sz="24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string.h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header file. </a:t>
            </a:r>
            <a:endParaRPr dirty="0"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4595999" y="3546485"/>
            <a:ext cx="4014601" cy="5365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strlen (str_name);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orbel"/>
              <a:buNone/>
            </a:pPr>
            <a:r>
              <a:rPr lang="en-US" sz="4000" b="1">
                <a:solidFill>
                  <a:schemeClr val="dk2"/>
                </a:solidFill>
              </a:rPr>
              <a:t>strlen()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5" name="Google Shape;20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15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1322615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1460" y="1271081"/>
            <a:ext cx="7976769" cy="5589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58229" y="3814760"/>
            <a:ext cx="2822836" cy="113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strcpy()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4" name="Google Shape;2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16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1332240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1531638" y="1457323"/>
            <a:ext cx="97203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C strcpy() function copies the content of a string to another. The content of the destination string will be replaced with that of the source string by the strcpy() function. </a:t>
            </a:r>
            <a:endParaRPr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 is defined inside &lt;string.h&gt; header file.</a:t>
            </a:r>
            <a:endParaRPr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4595999" y="3546485"/>
            <a:ext cx="4014601" cy="5365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strcpy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(to, from);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strcpy()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4" name="Google Shape;22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17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1332240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892" y="1240972"/>
            <a:ext cx="8104471" cy="5539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49363" y="3180978"/>
            <a:ext cx="3234088" cy="1267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strcat()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3" name="Google Shape;23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18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1332240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1531638" y="1457323"/>
            <a:ext cx="97203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 strcat() function appends the string pointed to by source to the end of the string pointed to by destination, plus a terminating Null character. The initial character of the string(src) overwrites the Null-character present at the end of the string(dest). </a:t>
            </a:r>
            <a:endParaRPr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 is defined inside &lt;string.h&gt; header file.</a:t>
            </a:r>
            <a:endParaRPr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4923258" y="3998872"/>
            <a:ext cx="4014601" cy="5365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strcpy (to, from);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orbel"/>
              <a:buNone/>
            </a:pPr>
            <a:r>
              <a:rPr lang="en-US" sz="4000" b="1">
                <a:solidFill>
                  <a:schemeClr val="dk2"/>
                </a:solidFill>
              </a:rPr>
              <a:t>strcat()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19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1332240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6855" y="1351445"/>
            <a:ext cx="7752193" cy="5264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9048" y="3429000"/>
            <a:ext cx="3081642" cy="1227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strcmp()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2" name="Google Shape;25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20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1332240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1531638" y="1457323"/>
            <a:ext cx="9720300" cy="6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This function takes two strings (array of characters) as arguments, compares these two strings lexicographically, and then returns 0,1, or -1 as the result.</a:t>
            </a:r>
            <a:endParaRPr dirty="0">
              <a:solidFill>
                <a:schemeClr val="dk2"/>
              </a:solidFill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 is defined inside &lt;</a:t>
            </a:r>
            <a:r>
              <a:rPr lang="en-US" sz="24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string.h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&gt; header file.</a:t>
            </a:r>
            <a:endParaRPr dirty="0"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 returns zero – if s1 and s2 same  (s1 = s2)</a:t>
            </a:r>
            <a:endParaRPr dirty="0">
              <a:solidFill>
                <a:schemeClr val="dk2"/>
              </a:solidFill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It returns less than zero – if s1 less than s2  (s1 &lt; s2)</a:t>
            </a:r>
            <a:endParaRPr dirty="0">
              <a:solidFill>
                <a:schemeClr val="dk2"/>
              </a:solidFill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It returns greater than zero – if s1 greater than s2   (s1 &gt; s2)</a:t>
            </a:r>
            <a:endParaRPr dirty="0"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4721128" y="3467443"/>
            <a:ext cx="4014601" cy="5365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strcmp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(s1, s2);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strcmp()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2" name="Google Shape;26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21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1332240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0020" y="3205213"/>
            <a:ext cx="3115306" cy="1285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72" y="1240973"/>
            <a:ext cx="8210348" cy="5617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strrev()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1" name="Google Shape;27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22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1332240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1531638" y="1457323"/>
            <a:ext cx="97203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strrev() function is a built-in function in C and is defined in string.h header file. The strrev() function is used to reverse the given string. </a:t>
            </a:r>
            <a:endParaRPr>
              <a:solidFill>
                <a:schemeClr val="dk2"/>
              </a:solidFill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It does not count the null terminator</a:t>
            </a: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 is defined inside &lt;string.h&gt; header file.</a:t>
            </a:r>
            <a:endParaRPr>
              <a:solidFill>
                <a:schemeClr val="dk2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4865507" y="3974197"/>
            <a:ext cx="4014601" cy="5365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49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strrev(str);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"/>
          <p:cNvSpPr txBox="1">
            <a:spLocks noGrp="1"/>
          </p:cNvSpPr>
          <p:nvPr>
            <p:ph type="title"/>
          </p:nvPr>
        </p:nvSpPr>
        <p:spPr>
          <a:xfrm>
            <a:off x="1841428" y="480912"/>
            <a:ext cx="8911687" cy="7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4000" b="1">
                <a:solidFill>
                  <a:schemeClr val="dk2"/>
                </a:solidFill>
              </a:rPr>
              <a:t>strrev()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1" name="Google Shape;28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23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1332240" y="1457323"/>
            <a:ext cx="10458450" cy="4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266" y="1736929"/>
            <a:ext cx="8132025" cy="39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24</a:t>
            </a:fld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915749" y="2309118"/>
            <a:ext cx="10360500" cy="2239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78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9600"/>
              <a:buFont typeface="Arial"/>
              <a:buNone/>
            </a:pPr>
            <a:r>
              <a:rPr lang="en-US" sz="9600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Thank You</a:t>
            </a:r>
            <a:endParaRPr sz="9600" i="0" u="none" strike="noStrike" cap="none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1016</Words>
  <Application>Microsoft Office PowerPoint</Application>
  <PresentationFormat>Widescreen</PresentationFormat>
  <Paragraphs>223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Playfair Display</vt:lpstr>
      <vt:lpstr>Calibri</vt:lpstr>
      <vt:lpstr>Century Gothic</vt:lpstr>
      <vt:lpstr>Lato</vt:lpstr>
      <vt:lpstr>Arial</vt:lpstr>
      <vt:lpstr>Noto Sans Symbols</vt:lpstr>
      <vt:lpstr>Corbel</vt:lpstr>
      <vt:lpstr>Amatic SC</vt:lpstr>
      <vt:lpstr>Blue &amp; Gold</vt:lpstr>
      <vt:lpstr>PowerPoint Presentation</vt:lpstr>
      <vt:lpstr>Strings</vt:lpstr>
      <vt:lpstr>Strings Declaration</vt:lpstr>
      <vt:lpstr>Strings Initialization</vt:lpstr>
      <vt:lpstr>Strings Initialization</vt:lpstr>
      <vt:lpstr>Strings Initialization</vt:lpstr>
      <vt:lpstr>Read String from the user</vt:lpstr>
      <vt:lpstr>Read String Separated by Whitespaces</vt:lpstr>
      <vt:lpstr>gets()</vt:lpstr>
      <vt:lpstr>gets()</vt:lpstr>
      <vt:lpstr>Be aware!</vt:lpstr>
      <vt:lpstr>puts()</vt:lpstr>
      <vt:lpstr>String Functions</vt:lpstr>
      <vt:lpstr>strlen() </vt:lpstr>
      <vt:lpstr>strlen() </vt:lpstr>
      <vt:lpstr>strcpy() </vt:lpstr>
      <vt:lpstr>strcpy() </vt:lpstr>
      <vt:lpstr>strcat() </vt:lpstr>
      <vt:lpstr>strcat() </vt:lpstr>
      <vt:lpstr>strcmp() </vt:lpstr>
      <vt:lpstr>strcmp() </vt:lpstr>
      <vt:lpstr>strrev() </vt:lpstr>
      <vt:lpstr>strrev()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Nafia Islam Shishir</dc:creator>
  <cp:lastModifiedBy>HP</cp:lastModifiedBy>
  <cp:revision>4</cp:revision>
  <dcterms:created xsi:type="dcterms:W3CDTF">2024-11-01T14:15:00Z</dcterms:created>
  <dcterms:modified xsi:type="dcterms:W3CDTF">2025-08-13T18:49:33Z</dcterms:modified>
</cp:coreProperties>
</file>